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703320"/>
            <a:ext cx="12191695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103120"/>
            <a:ext cx="685800" cy="82296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33172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800" b="1">
                <a:solidFill>
                  <a:srgbClr val="1F2937"/>
                </a:solidFill>
                <a:latin typeface="PingFang SC"/>
              </a:rPr>
              <a:t>云侧算子迁移端侧(Kirin 9030)评审汇报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1546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6B7280"/>
                </a:solidFill>
                <a:latin typeface="PingFang SC"/>
              </a:rPr>
              <a:t>迁移指南解读与框架侧免改方案(2.5 透明降级 / 2.6 值烘焙)立项建议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977639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ingFang SC"/>
              </a:rPr>
              <a:t>汇报人:____________        日期:2026-09-03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03504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6B7280"/>
                </a:solidFill>
                <a:latin typeface="PingFang SC"/>
              </a:rPr>
              <a:t>依据:《云侧算子迁移端侧(Kirin 9030)指南》(2026-09-01 / 09-02 / 09-03 增补)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背景与问题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为什么要做这次迁移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500" b="1">
                <a:solidFill>
                  <a:srgbClr val="1F2937"/>
                </a:solidFill>
                <a:latin typeface="PingFang SC"/>
              </a:rPr>
              <a:t>迁移动因:</a:t>
            </a:r>
            <a:r>
              <a:rPr sz="1500" b="0">
                <a:solidFill>
                  <a:srgbClr val="1F2937"/>
                </a:solidFill>
                <a:latin typeface="PingFang SC"/>
              </a:rPr>
              <a:t>将云侧(910/910B/950 系,npuarch 如 DAV_1001/DAV_2201/DAV_3510)编写的 PyPTO 算子迁移至端侧 Kirin 9030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500" b="1">
                <a:solidFill>
                  <a:srgbClr val="1F2937"/>
                </a:solidFill>
                <a:latin typeface="PingFang SC"/>
              </a:rPr>
              <a:t>案例算子:</a:t>
            </a:r>
            <a:r>
              <a:rPr sz="1500" b="0">
                <a:solidFill>
                  <a:srgbClr val="1F2937"/>
                </a:solidFill>
                <a:latin typeface="PingFang SC"/>
              </a:rPr>
              <a:t>flash_attention varlen forward kernel(python/tests/st/operator/flash_attention_mha/flash_attention_mha_impl.py)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500" b="1">
                <a:solidFill>
                  <a:srgbClr val="1F2937"/>
                </a:solidFill>
                <a:latin typeface="PingFang SC"/>
              </a:rPr>
              <a:t>核心矛盾:</a:t>
            </a:r>
            <a:r>
              <a:rPr sz="1500" b="0">
                <a:solidFill>
                  <a:srgbClr val="1F2937"/>
                </a:solidFill>
                <a:latin typeface="PingFang SC"/>
              </a:rPr>
              <a:t>云侧为多核、大 buffer、动态 varlen 设计;端侧单核、128KB UB、静态 shape 强约束——云侧 tile 配置与控制流模式基本不可行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5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500" b="1">
                <a:solidFill>
                  <a:srgbClr val="1F2937"/>
                </a:solidFill>
                <a:latin typeface="PingFang SC"/>
              </a:rPr>
              <a:t>本轮产出:</a:t>
            </a:r>
            <a:r>
              <a:rPr sz="1500" b="0">
                <a:solidFill>
                  <a:srgbClr val="1F2937"/>
                </a:solidFill>
                <a:latin typeface="PingFang SC"/>
              </a:rPr>
              <a:t>迁移指南(差异事实 + 改法对照)+ 端侧代码草稿(python/tests/ut/kirin/flash_attention_fa/flash_attention_fa_edge_draft.py)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4892040"/>
            <a:ext cx="11155680" cy="91440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047488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B45300"/>
                </a:solidFill>
                <a:latin typeface="PingFang SC"/>
              </a:rPr>
              <a:t>现状声明: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指南基于访谈共识与仓库内事实(SocInfo 配置、UT 惯例)撰写,所有代码改动均未经真机/SIM 验证,待验证项见第 13 页 V1–V10。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总览:五大差异 + 一个总原则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兼作目录;后续各页逐项展开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PingFang SC"/>
              </a:rPr>
              <a:t>总原则:复用优先——能不改的代码一律不改,</a:t>
            </a:r>
            <a:r>
              <a:rPr sz="1600" b="0">
                <a:solidFill>
                  <a:srgbClr val="6B7280"/>
                </a:solidFill>
                <a:latin typeface="PingFang SC"/>
              </a:rPr>
              <a:t>改动面收敛到端侧确实不支持的点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965960"/>
            <a:ext cx="11155680" cy="603504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09397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差异一  静态 shape 约束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11226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影响最深:循环边界、分支条件必须编译期确定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89920" y="211226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P5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79192"/>
            <a:ext cx="11155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07208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差异二  数据类型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825496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BF16→FP16、FP32 中间量→FP16,计算过程不动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0" y="2825496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392424"/>
            <a:ext cx="11155680" cy="603504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20440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差异三  函数签名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0" y="3538728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最大程度保留:cu_seqlens 留在签名,调用方零改动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89920" y="3538728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4105656"/>
            <a:ext cx="11155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233672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差异四  buffer / tile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14800" y="425196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128KB UB 下云侧 tile 全家桶不可行,用户自调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89920" y="4251960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818888"/>
            <a:ext cx="11155680" cy="603504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946904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差异五  jit 装饰参数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4965192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全删,只留 soc_version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4965192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5532120"/>
            <a:ext cx="1115568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660136"/>
            <a:ext cx="3291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D4ED8"/>
                </a:solidFill>
                <a:latin typeface="PingFang SC"/>
              </a:rPr>
              <a:t>框架方案 2.5 + 2.6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114800" y="5678424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透明降级 + 值烘焙,互补缺一不可(本次评审重点)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5678424"/>
            <a:ext cx="731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0">
                <a:solidFill>
                  <a:srgbClr val="1D4ED8"/>
                </a:solidFill>
                <a:latin typeface="PingFang SC"/>
              </a:rPr>
              <a:t>P8–12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2920" y="6355080"/>
            <a:ext cx="11155680" cy="384048"/>
          </a:xfrm>
          <a:prstGeom prst="rect">
            <a:avLst/>
          </a:prstGeom>
          <a:solidFill>
            <a:srgbClr val="B4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6409944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FFFFFF"/>
                </a:solidFill>
                <a:latin typeface="PingFang SC"/>
              </a:rPr>
              <a:t>复用原则的例外:</a:t>
            </a:r>
            <a:r>
              <a:rPr sz="1200" b="0">
                <a:solidFill>
                  <a:srgbClr val="FFFFFF"/>
                </a:solidFill>
                <a:latin typeface="PingFang SC"/>
              </a:rPr>
              <a:t>云侧依赖 pypto.loop 符号执行的惰性平台分支(npuarch == DAV_3510)在循环表达迁移时需一并移除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平台差异事实表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来源:Kirin9030.ini 与云侧典型配置对比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33284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94560"/>
                <a:gridCol w="2194560"/>
                <a:gridCol w="4663440"/>
              </a:tblGrid>
              <a:tr h="475488"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参数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Kirin9030(端侧)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云侧典型(910B/950)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PingFang SC"/>
                        </a:rPr>
                        <a:t>迁移影响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ub_size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128 KB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~256KB–1MB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tile 容量大幅缩水,云侧配置基本不可行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cube_m/n/k_size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16 / 8 / 16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128 级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tile 粒度小一个数量级,须为整数倍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ai_core_cnt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1 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数十核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多核切分/调度不复存在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dtype 覆盖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无 BF16 用例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BF16/FP32 全覆盖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BF16 输入与 FP32 中间量需迁移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批次支持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单 batch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多 batch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varlen 拼包模式不可用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l1_size / vec_calc / ubblock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512KB / 128 / 32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数MB / — / —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>
                          <a:solidFill>
                            <a:srgbClr val="1F2937"/>
                          </a:solidFill>
                          <a:latin typeface="PingFang SC"/>
                        </a:rPr>
                        <a:t>cube 分块与对齐约束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502920" y="4983480"/>
            <a:ext cx="11155680" cy="86868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5138928"/>
            <a:ext cx="106070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4ED8"/>
                </a:solidFill>
                <a:latin typeface="PingFang SC"/>
              </a:rPr>
              <a:t>利好:</a:t>
            </a:r>
            <a:r>
              <a:rPr sz="1300" b="0">
                <a:solidFill>
                  <a:srgbClr val="1F2937"/>
                </a:solidFill>
                <a:latin typeface="PingFang SC"/>
              </a:rPr>
              <a:t>Kirin9030 有 SIM 仿真平台配置(simulation_platform.cpp 的 KIRIN_9030 映射),仓库 UT(python/tests/ut/kirin/)以 run_mode=RunMode.SIM 运行,无需真机即可验证。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差异一:静态 shape 约束(影响最深)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不仅 shape,循环边界与分支条件也必须编译期确定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48640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端侧调用契约: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单 batch;S = S_max(padding 由调用方负责);cu_seqlens 必须为 [0, S_max] 且值不参与计算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核心改造: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删除 cu_seqlens 的运行期值读取,改为静态推导 seq_len_q = q.shape[1];四层 pypto.loop 改原生 range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234440"/>
            <a:ext cx="539496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常见误解: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值恰好是常量也不行——cu_seqlens[b] 构造的是运行期符号表达式,“值是常量”≠“编译期常量”,只有 shape 读取与 host 侧 int 传入是静态的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签名策略: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cu_seqlens 保留在签名中一字不差,仅改 kernel 内部三处值读取,host/model 侧调用代码零改动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617720"/>
            <a:ext cx="11155680" cy="822960"/>
          </a:xfrm>
          <a:prstGeom prst="rect">
            <a:avLst/>
          </a:prstGeom>
          <a:solidFill>
            <a:srgbClr val="B4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736592"/>
            <a:ext cx="1069848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PingFang SC"/>
              </a:rPr>
              <a:t>静默出错风险:</a:t>
            </a:r>
            <a:r>
              <a:rPr sz="1300" b="0">
                <a:solidFill>
                  <a:srgbClr val="FFFFFF"/>
                </a:solidFill>
                <a:latin typeface="PingFang SC"/>
              </a:rPr>
              <a:t>若真传多 batch 拼包+真实累积长度,或 padding 后 pad 位 K/V 参与 softmax,均会结果错但不报错。首版不带 mask,契约=调用方保证 pad 策略(mask 扩展见第 16 页)。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7150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机械改写 vs 语义静态化:</a:t>
            </a:r>
            <a:r>
              <a:rPr sz="1300" b="0">
                <a:solidFill>
                  <a:srgbClr val="6B7280"/>
                </a:solidFill>
                <a:latin typeface="PingFang SC"/>
              </a:rPr>
              <a:t>loop→range、is_loop_begin/end→整数比较、pypto.min→min 三项属机械改写,可由 2.5 方案免手工修改;值读取与 as_variable 是语义约束,必须用户改造。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差异二~三:数据类型与函数签名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只换类型,不动计算过程;签名最大程度保留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585216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09728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云侧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端侧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涉及位置(FA 案例)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BF16 输入(q/k/v)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q/k/v 注解及调用方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FP32 中间量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FP16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scores、scores_scaled、mij/s_shifted/pij/lij、L/M 累加器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BF16 的 P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pypto.cast(pij, DT_BF16) → DT_FP16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FP32 输出(l/m)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FP16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输出注解及调用方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675120" y="1234440"/>
          <a:ext cx="4983479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713"/>
                <a:gridCol w="3388766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参数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端侧语义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q/k/v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[1, S_max, N, D] 静态,FP16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output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[1, S_max, N*D]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l/m_output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[1, S_max, N],FP16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cu_seqlens_q/k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[2],值必须 [0, S_max],值不参与计算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657600"/>
            <a:ext cx="5852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替换规则(签名与结构不变)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0" y="3657600"/>
            <a:ext cx="4983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端侧入参语义(不改签名结构)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069080"/>
            <a:ext cx="11155680" cy="137160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206240"/>
            <a:ext cx="1069848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已知精度风险(如实标注,不改计算过程):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▪ FP16 累加 L/M 误差放大:11-bit 尾数在长序列下可能放大误差,验收时关注 (V1)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▪ pypto.exp 在 FP16 输入下的实现路径待查证 (V2)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▪ pypto.div INTRINSIC 精度模式在 FP16 下的行为待查证 (V3)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692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调用方负责把权重/激活提前转成 FP16;kernel 内不做 BF16→FP16 转换(端侧无 BF16 支持证据)。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差异四~五:buffer/tile 与 jit 参数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tile 用户自调,只给事实;jit 参数全删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669280" cy="2651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tile 触点盘点: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FA 案例共 10+ 处——模块常量 Q_TILE/K_TILE=320、全局 set_cube/vec_tile_shapes、循环内 QK^T 与 PV 的 6 处重设、nbuffer=8 的 pass_options(128KB UB 下大概率不可行,必须改)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调优建议(非推导):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保守小 tile 起步(Q_TILE=K_TILE=64,vec tile ≤ 64/128),按 16/8/16 整数倍与 ubblock=32 对齐迭代;仍不足则结构退守单 head 循环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657600"/>
          <a:ext cx="5669280" cy="1609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463040"/>
                <a:gridCol w="23774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阶段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估计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拿到能跑的配置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1–2 人日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改参数→编译→看 UB 溢出/对齐报错→再改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性能调优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1–2 人周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单核小 buffer 对 tile 敏感,需扫配置;强依赖仿真反馈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后续算子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0.5–1 人日/算子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触点认知可复用,边际递减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3383280"/>
            <a:ext cx="56692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F2937"/>
                </a:solidFill>
                <a:latin typeface="PingFang SC"/>
              </a:rPr>
              <a:t>工作量评估(前提:SIM 仿真可用)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0" y="1234440"/>
          <a:ext cx="5257799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640079"/>
                <a:gridCol w="2606040"/>
              </a:tblGrid>
              <a:tr h="402336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jit 选项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处置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理由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device_sched_mode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删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设备侧调度,端侧单核无需求 (V4)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stitch_function_max_num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删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多核切分相关,单核不适用 (V4)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nbuffer 系列(=8)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删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与云侧大 buffer 耦合,端侧用默认值 (V4)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runtime_debug_mode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删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调试开关,非功能必需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0" y="3703320"/>
            <a:ext cx="5257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1F2937"/>
                </a:solidFill>
                <a:latin typeface="PingFang SC"/>
              </a:rPr>
              <a:t>jit 装饰参数:只留 codegen_options.soc_version=Kirin9030,</a:t>
            </a:r>
          </a:p>
          <a:p>
            <a:pPr algn="l">
              <a:lnSpc>
                <a:spcPct val="100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按 UT 惯例加 runtime_options.run_mode=RunMode.SIM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D4ED8"/>
                </a:solidFill>
                <a:latin typeface="PingFang SC"/>
              </a:rPr>
              <a:t>框架侧免改方案(规划中,未实现)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315468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PingFang SC"/>
              </a:rPr>
              <a:t>2.5 循环透明降级  +  2.6 编译期值烘焙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411480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6B7280"/>
                </a:solidFill>
                <a:latin typeface="PingFang SC"/>
              </a:rPr>
              <a:t>两者互补,缺一不可——目标是 varlen 云侧 kernel 端侧零修改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937760"/>
            <a:ext cx="11155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937"/>
                </a:solidFill>
                <a:latin typeface="PingFang SC"/>
              </a:rPr>
              <a:t>2.5 解决“循环写法”免改: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loop / is_loop_begin / min 三类机械改写自动映射    </a:t>
            </a:r>
          </a:p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937"/>
                </a:solidFill>
                <a:latin typeface="PingFang SC"/>
              </a:rPr>
              <a:t>2.6 解决“值读取”免改:</a:t>
            </a:r>
            <a:r>
              <a:rPr sz="1400" b="0">
                <a:solidFill>
                  <a:srgbClr val="1F2937"/>
                </a:solidFill>
                <a:latin typeface="PingFang SC"/>
              </a:rPr>
              <a:t>cu_seqlens 值读取在编译期折叠为立即数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2.5 透明降级:动机与可行性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定位:让“已静态化的代码 + 云侧循环写法”云/端共用同一份源码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557784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能做到: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三行机械改写由框架自动映射——四层 pypto.loop→range、is_loop_begin/end→整数比较、pypto.min→Python min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做不到: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语义静态化(删值读取、as_variable)无法替代;前端无法不读真实数据做常量折叠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边界策略: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遇动态边界(SymbolicScalar)时报错而非静默降级——替用户提前发现“该段代码尚未静态化”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234440"/>
            <a:ext cx="530352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先例一: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pil/ops.py 的 loop_impl 已内置静态/动态双路径——LoopRange 走动态 _dyn_for,原生可迭代走 _static_for(trace 期逐迭代展开)。静态循环机制已存在,缺的只是端侧场景的路由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35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350" b="1">
                <a:solidFill>
                  <a:srgbClr val="1F2937"/>
                </a:solidFill>
                <a:latin typeface="PingFang SC"/>
              </a:rPr>
              <a:t>先例二: </a:t>
            </a:r>
            <a:r>
              <a:rPr sz="1350" b="0">
                <a:solidFill>
                  <a:srgbClr val="1F2937"/>
                </a:solidFill>
                <a:latin typeface="PingFang SC"/>
              </a:rPr>
              <a:t>同文件 max_impl 已有“入参全 int 则退回 Python 内建”的透明降级先例,pypto.min 可照此实现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4892040"/>
            <a:ext cx="11155680" cy="77724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02920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D4ED8"/>
                </a:solidFill>
                <a:latin typeface="PingFang SC"/>
              </a:rPr>
              <a:t>结论:</a:t>
            </a:r>
            <a:r>
              <a:rPr sz="1300" b="0">
                <a:solidFill>
                  <a:srgbClr val="1F2937"/>
                </a:solidFill>
                <a:latin typeface="PingFang SC"/>
              </a:rPr>
              <a:t>方案不是新造机制,而是把已有静态路径在端侧场景接通——实现风险低、不碰 C++,估计 0.5–1 人日(2.5.7 落地顺序共 4 步)。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2.5 透明降级:_LoopInt 属性桥机制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Python int 不可挂属性 → 用允许动态属性的 int 子类桥接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5577840" cy="658368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0759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1. 路由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00200" y="1280160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PingFang SC"/>
              </a:rPr>
              <a:t>loop() 静态分支:开关开启且循环边界全为 int 时,降级为 range 逐迭代 yield _LoopInt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011680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8483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2. 桥接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057400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PingFang SC"/>
              </a:rPr>
              <a:t>_LoopInt(int) 子类默认带 __dict__,可 setattr 携带 _loop_begin/_loop_end/_loop_step,通过现有 hasattr 检查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788920"/>
            <a:ext cx="5577840" cy="658368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86207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3. 判定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834640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PingFang SC"/>
              </a:rPr>
              <a:t>is_loop_begin/end 增加 int 分支:直接读值上属性返回 Python bool,现有校验逻辑原样复用;begin 随值携带,正确处理 start≠0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566160"/>
            <a:ext cx="5577840" cy="658368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639312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4. 降级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611880"/>
            <a:ext cx="434340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1F2937"/>
                </a:solidFill>
                <a:latin typeface="PingFang SC"/>
              </a:rPr>
              <a:t>pypto.min/max 照 max_impl 模式:入参全 int 退回 Python 内建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6355080" y="1234440"/>
          <a:ext cx="5303519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560319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代码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050">
                          <a:solidFill>
                            <a:srgbClr val="FFFFFF"/>
                          </a:solidFill>
                          <a:latin typeface="PingFang SC"/>
                        </a:rPr>
                        <a:t>透明降级能否覆盖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四层 pypto.loop → range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is_loop_begin/end → 整数比较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能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pypto.min → min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能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cu_seqlens 值读取 / .as_variable()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不能(触发报错,符合预期;需 2.6 配合)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循环体内 set_pass_options 等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不报错,但被逐迭代 trace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jit 云侧专属选项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>
                          <a:solidFill>
                            <a:srgbClr val="1F2937"/>
                          </a:solidFill>
                          <a:latin typeface="PingFang SC"/>
                        </a:rPr>
                        <a:t>仍按第 6 节处理(过滤/告警)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502920" y="4617720"/>
            <a:ext cx="5577840" cy="1005840"/>
          </a:xfrm>
          <a:prstGeom prst="rect">
            <a:avLst/>
          </a:prstGeom>
          <a:solidFill>
            <a:srgbClr val="B453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4709160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1">
                <a:solidFill>
                  <a:srgbClr val="FFFFFF"/>
                </a:solidFill>
                <a:latin typeface="PingFang SC"/>
              </a:rPr>
              <a:t>开关设计:</a:t>
            </a:r>
          </a:p>
          <a:p>
            <a:pPr algn="l">
              <a:lnSpc>
                <a:spcPct val="110000"/>
              </a:lnSpc>
            </a:pPr>
            <a:r>
              <a:rPr sz="1150" b="0">
                <a:solidFill>
                  <a:srgbClr val="FFFFFF"/>
                </a:solidFill>
                <a:latin typeface="PingFang SC"/>
              </a:rPr>
              <a:t>显式开关(jit frontend_options 或 target 派生),不建议纯靠 npuarch 嗅探——该属性 trace 期是否就绪是待验证项 (V5c)。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760720"/>
            <a:ext cx="55778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>
                <a:solidFill>
                  <a:srgbClr val="1F2937"/>
                </a:solidFill>
                <a:latin typeface="PingFang SC"/>
              </a:rPr>
              <a:t>代价:</a:t>
            </a:r>
            <a:r>
              <a:rPr sz="1150" b="0">
                <a:solidFill>
                  <a:srgbClr val="6B7280"/>
                </a:solidFill>
                <a:latin typeface="PingFang SC"/>
              </a:rPr>
              <a:t>trace 期全展开,IR 规模 = 迭代次数×循环体;FA 的 32 个 kv tile 无问题,大 trip count 需上限告警 (V9)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2.6 值烘焙:机制与前置条件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与 2.5 同族的静态前端选项,解决 varlen 值读取免改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1F2937"/>
                </a:solidFill>
                <a:latin typeface="PingFang SC"/>
              </a:rPr>
              <a:t>机制设想:</a:t>
            </a:r>
            <a:r>
              <a:rPr sz="1300" b="0">
                <a:solidFill>
                  <a:srgbClr val="1F2937"/>
                </a:solidFill>
                <a:latin typeface="PingFang SC"/>
              </a:rPr>
              <a:t>trace 期对显式标记的 tensor 从 host 侧数据读取元素值,把 GetTensorData 符号表达式直接替换为常量——后续 q_end-q_start、q_tile_count 等表达式自然折叠为编译期常量,as_variable() 在此模式改 no-op 或报错。</a:t>
            </a:r>
          </a:p>
          <a:p>
            <a:pPr algn="l">
              <a:lnSpc>
                <a:spcPct val="120000"/>
              </a:lnSpc>
            </a:pPr>
            <a:r>
              <a:rPr sz="1200" b="0">
                <a:solidFill>
                  <a:srgbClr val="1D4ED8"/>
                </a:solidFill>
                <a:latin typeface="PingFang SC"/>
              </a:rPr>
              <a:t>开关:@pypto.frontend.jit(frontend_options={"bake_host_values": ["cu_seqlens_q", "cu_seqlens_k"]})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3017520"/>
          <a:ext cx="11155678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3876"/>
                <a:gridCol w="4735901"/>
                <a:gridCol w="4735901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前置条件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说明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现状依据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host 可得性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只对 host 侧数据生效;device tensor 烘不了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云侧 ready_on_host_tensors 机制可复用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变体缓存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值变化必须触发重编译,否则换 S_max 静默算错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类比 shape policy 变体机制,烘焙值纳入变体 key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类型限制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GetTensorData 仅支持 DT_INT32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恰好覆盖 cu_seqlens 场景,其它 dtype 需扩展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02920" y="5074920"/>
            <a:ext cx="11155680" cy="91440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193792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>
                <a:solidFill>
                  <a:srgbClr val="B45300"/>
                </a:solidFill>
                <a:latin typeface="PingFang SC"/>
              </a:rPr>
              <a:t>风险:</a:t>
            </a:r>
          </a:p>
          <a:p>
            <a:pPr algn="l">
              <a:lnSpc>
                <a:spcPct val="11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▪ 语义偏移:每个值一份编译产物,S_max 种类多时编译次数线性增长(端侧单 batch 可接受)    ▪ 与 padding 契约交互:静默出错风险不变    ▪ 名单写错 tensor 名需编译期报错 (V10)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方案收益:演进路线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2.5 与 2.6 互补推进,逐步收敛用户改动面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3383280" cy="2286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417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937"/>
                </a:solidFill>
                <a:latin typeface="PingFang SC"/>
              </a:rPr>
              <a:t>现状(无方案)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9202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用户手改全部:DTYPE + TILE + JIT
+ 值读取 + as_variable +
循环表达(机械改写)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1488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D4ED8"/>
                </a:solidFill>
                <a:latin typeface="PingFang SC"/>
              </a:rP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4206240" y="1234440"/>
            <a:ext cx="3383280" cy="228600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120" y="1417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1F2937"/>
                </a:solidFill>
                <a:latin typeface="PingFang SC"/>
              </a:rPr>
              <a:t>2.5 落地后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19202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1F2937"/>
                </a:solidFill>
                <a:latin typeface="PingFang SC"/>
              </a:rPr>
              <a:t>循环表达自动映射:
云/端共用同一份源码
(可换回 pypto.loop 写法,
时机以 V9 为准)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2148840"/>
            <a:ext cx="320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1D4ED8"/>
                </a:solidFill>
                <a:latin typeface="PingFang SC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09560" y="1234440"/>
            <a:ext cx="3383280" cy="228600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92440" y="1417320"/>
            <a:ext cx="3017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>
                <a:solidFill>
                  <a:srgbClr val="FFFFFF"/>
                </a:solidFill>
                <a:latin typeface="PingFang SC"/>
              </a:rPr>
              <a:t>2.5 + 2.6 齐备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92440" y="1920240"/>
            <a:ext cx="30175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FFFFFF"/>
                </a:solidFill>
                <a:latin typeface="PingFang SC"/>
              </a:rPr>
              <a:t>varlen 端侧零修改:
仅剩 dtype / tile / jit
三类改动(非控制流)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11155679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1294"/>
                <a:gridCol w="5976257"/>
                <a:gridCol w="2988128"/>
              </a:tblGrid>
              <a:tr h="502920"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方案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落地成本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50">
                          <a:solidFill>
                            <a:srgbClr val="FFFFFF"/>
                          </a:solidFill>
                          <a:latin typeface="PingFang SC"/>
                        </a:rPr>
                        <a:t>性质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2.5 循环透明降级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约 0.5–1 人日,不碰 C++(_controller.py + pil/ops.py + 开关接线 + UT)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仓库已有先例,风险低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2.6 编译期值烘焙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暂无估计,待评估(前置条件已具备仓库依据)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>
                          <a:solidFill>
                            <a:srgbClr val="1F2937"/>
                          </a:solidFill>
                          <a:latin typeface="PingFang SC"/>
                        </a:rPr>
                        <a:t>需变体缓存配合,防静默算错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502920" y="5669280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PingFang SC"/>
              </a:rPr>
              <a:t>注:</a:t>
            </a:r>
            <a:r>
              <a:rPr sz="1200" b="0">
                <a:solidFill>
                  <a:srgbClr val="6B7280"/>
                </a:solidFill>
                <a:latin typeface="PingFang SC"/>
              </a:rPr>
              <a:t>等价性与展开上限需按 V9/V10 验证;行为等价性 UT 按 V5b 方法——三分支(首/中/末 tile)下降级版与手写 range 版产物比对。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待验证清单(V1–V10)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环境就绪后执行;★ 标记项阻塞方案决策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234440"/>
          <a:ext cx="1115568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3566160"/>
                <a:gridCol w="65836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ID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验证项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PingFang SC"/>
                        </a:rPr>
                        <a:t>方法/说明</a:t>
                      </a:r>
                    </a:p>
                  </a:txBody>
                  <a:tcPr marL="64008" marR="45720" marT="18288" marB="18288" anchor="ctr">
                    <a:solidFill>
                      <a:srgbClr val="1D4ED8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V1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FP16 累加 L/M 精度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SIM 跑 FA 与 FP64 参考比对,扫 S_max 与 kv tile 数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V2/V3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exp / div INTRINSIC 的 FP16 路径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查 litenpu codegen 实现或 SIM 单测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V4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jit 选项在 litenpu 的支持矩阵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删干净后 SIM 编译,观察 unknown key 报错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V5/V5b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STATIC 烘入;range+整数比较等价性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pypto 小用例;三分支(首/中/末 tile)比对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★V5c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npuarch 在 trace 期的取值行为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决定惰性平台分支移除必要性;决定 2.5 开关能否 arch 派生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V6/V7/V8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assemble 写回;SIM 全链路;combine_axis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SIM 下比对输出/编译观察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★V9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2.5 降级等价性与展开上限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三分支产物比对(V5b 基准);IR 规模上限告警阈值</a:t>
                      </a:r>
                    </a:p>
                  </a:txBody>
                  <a:tcPr marL="64008" marR="45720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★V10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2.6 值烘焙可行性与变体缓存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PingFang SC"/>
                        </a:rPr>
                        <a:t>GetTensorData 折叠;改 S_max 触发新变体重编译</a:t>
                      </a:r>
                    </a:p>
                  </a:txBody>
                  <a:tcPr marL="64008" marR="45720" marT="18288" marB="18288" anchor="ctr">
                    <a:solidFill>
                      <a:srgbClr val="EF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风险汇总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四类主要风险及现有对策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155680" cy="82296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9047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padding 静默出错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50876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B45300"/>
                </a:solidFill>
                <a:latin typeface="PingFang SC"/>
              </a:rPr>
              <a:t>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1362456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pad 位 K/V 真实参与 softmax,结果错但不报错;契约=调用方保证 pad 策略,mask 扩展为可选项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94560"/>
            <a:ext cx="11155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FP16 精度误差放大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46888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322576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online softmax 的 L/M 在长序列下误差可能放大;不改计算过程,验收时按 V1 关注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54680"/>
            <a:ext cx="11155680" cy="82296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41071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SIM 环境依赖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342900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282696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调优强依赖仿真反馈;Kirin9030 SIM 配置已存在但未实测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114800"/>
            <a:ext cx="11155680" cy="822960"/>
          </a:xfrm>
          <a:prstGeom prst="rect">
            <a:avLst/>
          </a:prstGeom>
          <a:solidFill>
            <a:srgbClr val="FFFF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23774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1F2937"/>
                </a:solidFill>
                <a:latin typeface="PingFang SC"/>
              </a:rPr>
              <a:t>trace 全展开 IR 膨胀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4389120"/>
            <a:ext cx="6400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1D4ED8"/>
                </a:solidFill>
                <a:latin typeface="PingFang SC"/>
              </a:rPr>
              <a:t>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242816"/>
            <a:ext cx="7406640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1F2937"/>
                </a:solidFill>
                <a:latin typeface="PingFang SC"/>
              </a:rPr>
              <a:t>2.5 静态映射等价循环全展开,大 trip count 会爆;需上限告警(FA 32 个 kv tile 已验证无问题)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评审议题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04672"/>
            <a:ext cx="10515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PingFang SC"/>
              </a:rPr>
              <a:t>请评审方决策的三件事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234440"/>
            <a:ext cx="1188720" cy="10972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64592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ingFang SC"/>
              </a:rPr>
              <a:t>议题一</a:t>
            </a:r>
          </a:p>
        </p:txBody>
      </p:sp>
      <p:sp>
        <p:nvSpPr>
          <p:cNvPr id="7" name="Rectangle 6"/>
          <p:cNvSpPr/>
          <p:nvPr/>
        </p:nvSpPr>
        <p:spPr>
          <a:xfrm>
            <a:off x="1828800" y="1234440"/>
            <a:ext cx="9829800" cy="10972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3120" y="137160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PingFang SC"/>
              </a:rPr>
              <a:t>2.5 / 2.6 是否立项?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7830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2.5 成本 0.5–1 人日、有仓库先例、不碰 C++;2.6 需变体缓存配合。立项后 varlen 端侧零修改可期。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606040"/>
            <a:ext cx="1188720" cy="10972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01752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ingFang SC"/>
              </a:rPr>
              <a:t>议题二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2606040"/>
            <a:ext cx="9829800" cy="10972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103120" y="274320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PingFang SC"/>
              </a:rPr>
              <a:t>mask 扩展是否纳入首版?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03120" y="31546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当前契约“调用方保证 pad 策略”存在静默出错面;mask 扩展走数据流实现不违反静态约束,可后置(第 8 节指引)。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77640"/>
            <a:ext cx="1188720" cy="1097280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389120"/>
            <a:ext cx="11887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FFFFFF"/>
                </a:solidFill>
                <a:latin typeface="PingFang SC"/>
              </a:rPr>
              <a:t>议题三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28800" y="3977640"/>
            <a:ext cx="9829800" cy="1097280"/>
          </a:xfrm>
          <a:prstGeom prst="rect">
            <a:avLst/>
          </a:prstGeom>
          <a:solidFill>
            <a:srgbClr val="EFF3FF"/>
          </a:solidFill>
          <a:ln w="9525">
            <a:solidFill>
              <a:srgbClr val="D7DCE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03120" y="4114800"/>
            <a:ext cx="9326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F2937"/>
                </a:solidFill>
                <a:latin typeface="PingFang SC"/>
              </a:rPr>
              <a:t>真机/SIM 验证环境何时就绪?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03120" y="4526280"/>
            <a:ext cx="9326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6B7280"/>
                </a:solidFill>
                <a:latin typeface="PingFang SC"/>
              </a:rPr>
              <a:t>V1–V10 全部依赖环境;V5c/V9/V10 阻塞方案决策,建议优先排期。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1F2937"/>
                </a:solidFill>
                <a:latin typeface="PingFang SC"/>
              </a:rPr>
              <a:t>附录:产物位置与扩展指引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1115568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迁移指南: </a:t>
            </a:r>
            <a:r>
              <a:rPr sz="1400" b="0">
                <a:solidFill>
                  <a:srgbClr val="1F2937"/>
                </a:solidFill>
                <a:latin typeface="PingFang SC"/>
              </a:rPr>
              <a:t>docs_cloud_to_edge_migration_guide.md(正文各节含 FA 案例“逐处对照”表,与草稿逐处映射)</a:t>
            </a:r>
          </a:p>
          <a:p>
            <a:pPr algn="l">
              <a:lnSpc>
                <a:spcPct val="115000"/>
              </a:lnSpc>
            </a:pPr>
            <a:r>
              <a:rPr sz="600" b="0">
                <a:solidFill>
                  <a:srgbClr val="1F2937"/>
                </a:solidFill>
                <a:latin typeface="PingFang SC"/>
              </a:rPr>
              <a:t> </a:t>
            </a:r>
          </a:p>
          <a:p>
            <a:pPr algn="l">
              <a:lnSpc>
                <a:spcPct val="115000"/>
              </a:lnSpc>
            </a:pPr>
            <a:r>
              <a:rPr sz="1400" b="1">
                <a:solidFill>
                  <a:srgbClr val="1D4ED8"/>
                </a:solidFill>
                <a:latin typeface="PingFang SC"/>
              </a:rPr>
              <a:t>▪ </a:t>
            </a:r>
            <a:r>
              <a:rPr sz="1400" b="1">
                <a:solidFill>
                  <a:srgbClr val="1F2937"/>
                </a:solidFill>
                <a:latin typeface="PingFang SC"/>
              </a:rPr>
              <a:t>端侧代码草稿: </a:t>
            </a:r>
            <a:r>
              <a:rPr sz="1400" b="0">
                <a:solidFill>
                  <a:srgbClr val="1F2937"/>
                </a:solidFill>
                <a:latin typeface="PingFang SC"/>
              </a:rPr>
              <a:t>python/tests/ut/kirin/flash_attention_fa/flash_attention_fa_edge_draft.py——单文件 kernel,静态契约、FP16 化、保守 tile 初值,头部标注全部待验证项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3291840"/>
            <a:ext cx="11155680" cy="2194560"/>
          </a:xfrm>
          <a:prstGeom prst="rect">
            <a:avLst/>
          </a:prstGeom>
          <a:solidFill>
            <a:srgbClr val="EF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56432"/>
            <a:ext cx="1069848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1">
                <a:solidFill>
                  <a:srgbClr val="1F2937"/>
                </a:solidFill>
                <a:latin typeface="PingFang SC"/>
              </a:rPr>
              <a:t>mask 扩展指引(可选,非迁移必需;参考云侧 test_fa_with_mask.py 既有模式):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937"/>
                </a:solidFill>
                <a:latin typeface="PingFang SC"/>
              </a:rPr>
              <a:t>1. 新增静态 mask 入参(如 [1, S_max, S_max] 可广播形状),pad 位 -inf/极小值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937"/>
                </a:solidFill>
                <a:latin typeface="PingFang SC"/>
              </a:rPr>
              <a:t>2. 在 scores_scaled 之后、mij=amax 之前叠加:scores_masked = scores_scaled + mask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937"/>
                </a:solidFill>
                <a:latin typeface="PingFang SC"/>
              </a:rPr>
              <a:t>3. 全程数据流实现(加法/select),不引入控制流,不违反静态约束</a:t>
            </a:r>
          </a:p>
          <a:p>
            <a:pPr algn="l">
              <a:lnSpc>
                <a:spcPct val="130000"/>
              </a:lnSpc>
            </a:pPr>
            <a:r>
              <a:rPr sz="1300" b="0">
                <a:solidFill>
                  <a:srgbClr val="1F2937"/>
                </a:solidFill>
                <a:latin typeface="PingFang SC"/>
              </a:rPr>
              <a:t>4. mask 不依赖 head 维,与双头打包直接广播兼容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760720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6B7280"/>
                </a:solidFill>
                <a:latin typeface="PingFang SC"/>
              </a:rPr>
              <a:t>换回时机:</a:t>
            </a:r>
            <a:r>
              <a:rPr sz="1250" b="0">
                <a:solidFill>
                  <a:srgbClr val="6B7280"/>
                </a:solidFill>
                <a:latin typeface="PingFang SC"/>
              </a:rPr>
              <a:t>2.5 落地后草稿中 range+整数比较可换回 pypto.loop 写法(V9 验证结论为准);2.5+2.6 齐备后 varlen 云侧 kernel 端侧零修改。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91840"/>
            <a:ext cx="12191695" cy="41148"/>
          </a:xfrm>
          <a:prstGeom prst="rect">
            <a:avLst/>
          </a:prstGeom>
          <a:solidFill>
            <a:srgbClr val="1D4E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3566160"/>
            <a:ext cx="1219169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1F2937"/>
                </a:solidFill>
                <a:latin typeface="PingFang SC"/>
              </a:rPr>
              <a:t>谢谢,请评审指正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4480560"/>
            <a:ext cx="121916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6B7280"/>
                </a:solidFill>
                <a:latin typeface="PingFang SC"/>
              </a:rPr>
              <a:t>云侧算子迁移端侧(Kirin 9030)评审汇报 · 2026-09-03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