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057400"/>
            <a:ext cx="685800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2937"/>
                </a:solidFill>
                <a:latin typeface="PingFang SC"/>
              </a:rPr>
              <a:t>云侧 vs 端侧:写法、约束与免改路径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B7280"/>
                </a:solidFill>
                <a:latin typeface="PingFang SC"/>
              </a:rPr>
              <a:t>每个维度:云侧写法与目的 → 端侧约束与期望结果 → 达成路径 → 用户感知档位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PingFang SC"/>
              </a:rPr>
              <a:t>汇报人:____________        日期:2026-09-03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846320"/>
            <a:ext cx="1234440" cy="310896"/>
          </a:xfrm>
          <a:prstGeom prst="rect">
            <a:avLst/>
          </a:prstGeom>
          <a:solidFill>
            <a:srgbClr val="E4F3E8"/>
          </a:solidFill>
          <a:ln w="9525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87468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A7F37"/>
                </a:solidFill>
                <a:latin typeface="PingFang SC"/>
              </a:rPr>
              <a:t>零感知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488289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不改代码、不开选项,照跑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4846320"/>
            <a:ext cx="1234440" cy="310896"/>
          </a:xfrm>
          <a:prstGeom prst="rect">
            <a:avLst/>
          </a:prstGeom>
          <a:solidFill>
            <a:srgbClr val="FBF0DD"/>
          </a:solidFill>
          <a:ln w="9525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4887468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06A00"/>
                </a:solidFill>
                <a:latin typeface="PingFang SC"/>
              </a:rPr>
              <a:t>半感知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488289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不改代码,但需开选项/遵守契约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0998" y="4846320"/>
            <a:ext cx="1234440" cy="310896"/>
          </a:xfrm>
          <a:prstGeom prst="rect">
            <a:avLst/>
          </a:prstGeom>
          <a:solidFill>
            <a:srgbClr val="FBE8E8"/>
          </a:solidFill>
          <a:ln w="9525">
            <a:solidFill>
              <a:srgbClr val="C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0998" y="4887468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2E2E"/>
                </a:solidFill>
                <a:latin typeface="PingFang SC"/>
              </a:rPr>
              <a:t>显式改造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598" y="488289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必须改代码或调用行为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2937"/>
                </a:solidFill>
                <a:latin typeface="PingFang SC"/>
              </a:rPr>
              <a:t>全景对比矩阵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六维度一览;感知三档图例见下,全程沿用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234440" cy="310896"/>
          </a:xfrm>
          <a:prstGeom prst="rect">
            <a:avLst/>
          </a:prstGeom>
          <a:solidFill>
            <a:srgbClr val="E4F3E8"/>
          </a:solidFill>
          <a:ln w="9525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48156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A7F37"/>
                </a:solidFill>
                <a:latin typeface="PingFang SC"/>
              </a:rPr>
              <a:t>零感知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43584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ingFang SC"/>
              </a:rPr>
              <a:t>不改代码、不开选项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207008"/>
            <a:ext cx="1234440" cy="310896"/>
          </a:xfrm>
          <a:prstGeom prst="rect">
            <a:avLst/>
          </a:prstGeom>
          <a:solidFill>
            <a:srgbClr val="FBF0DD"/>
          </a:solidFill>
          <a:ln w="9525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59" y="1248156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06A00"/>
                </a:solidFill>
                <a:latin typeface="PingFang SC"/>
              </a:rPr>
              <a:t>半感知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39" y="1243584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ingFang SC"/>
              </a:rPr>
              <a:t>不改代码,需开选项/遵守契约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998" y="1207008"/>
            <a:ext cx="1234440" cy="310896"/>
          </a:xfrm>
          <a:prstGeom prst="rect">
            <a:avLst/>
          </a:prstGeom>
          <a:solidFill>
            <a:srgbClr val="FBE8E8"/>
          </a:solidFill>
          <a:ln w="9525">
            <a:solidFill>
              <a:srgbClr val="C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998" y="1248156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2E2E"/>
                </a:solidFill>
                <a:latin typeface="PingFang SC"/>
              </a:rPr>
              <a:t>显式改造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78" y="1243584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ingFang SC"/>
              </a:rPr>
              <a:t>必须改代码或调用行为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783080"/>
          <a:ext cx="11183110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415"/>
                <a:gridCol w="2607721"/>
                <a:gridCol w="2106236"/>
                <a:gridCol w="1705048"/>
                <a:gridCol w="2607721"/>
                <a:gridCol w="1002969"/>
              </a:tblGrid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050">
                          <a:solidFill>
                            <a:srgbClr val="FFFFFF"/>
                          </a:solidFill>
                          <a:latin typeface="PingFang SC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050">
                          <a:solidFill>
                            <a:srgbClr val="FFFFFF"/>
                          </a:solidFill>
                          <a:latin typeface="PingFang SC"/>
                        </a:rPr>
                        <a:t>云侧写法与目的</a:t>
                      </a:r>
                    </a:p>
                  </a:txBody>
                  <a:tcPr marL="54864" marR="36576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050">
                          <a:solidFill>
                            <a:srgbClr val="FFFFFF"/>
                          </a:solidFill>
                          <a:latin typeface="PingFang SC"/>
                        </a:rPr>
                        <a:t>端侧约束</a:t>
                      </a:r>
                    </a:p>
                  </a:txBody>
                  <a:tcPr marL="54864" marR="36576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050">
                          <a:solidFill>
                            <a:srgbClr val="FFFFFF"/>
                          </a:solidFill>
                          <a:latin typeface="PingFang SC"/>
                        </a:rPr>
                        <a:t>期望结果</a:t>
                      </a:r>
                    </a:p>
                  </a:txBody>
                  <a:tcPr marL="54864" marR="36576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050">
                          <a:solidFill>
                            <a:srgbClr val="FFFFFF"/>
                          </a:solidFill>
                          <a:latin typeface="PingFang SC"/>
                        </a:rPr>
                        <a:t>达成路径</a:t>
                      </a:r>
                    </a:p>
                  </a:txBody>
                  <a:tcPr marL="54864" marR="36576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050">
                          <a:solidFill>
                            <a:srgbClr val="FFFFFF"/>
                          </a:solidFill>
                          <a:latin typeface="PingFang SC"/>
                        </a:rPr>
                        <a:t>感知档位</a:t>
                      </a:r>
                    </a:p>
                  </a:txBody>
                  <a:tcPr marL="54864" marR="36576" marT="18288" marB="18288" anchor="ctr">
                    <a:solidFill>
                      <a:srgbClr val="1D4ED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循环控制流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pypto.loop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动态边界驱动,一份 kernel 跑任意序列长度(varlen 多 batch 必需)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循环边界/分支条件必须编译期确定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循环静态展开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2.5 透明降级 / 手改 range+整数比较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半感知 / 显式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值读取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cu_seqlens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tensor 值→符号表达式,运行期求值,host 免传参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值不参与计算,须为 [0, S_max]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静态推导 q.shape[1]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2.6 值烘焙 / 手改+注解 [STATIC]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半感知 / 显式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dtype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BF16 输入 + FP32 中间量,求精度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无 BF16 支持证据(UT 无用例)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计算不动,仅类型替换 FP16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用户替换(V1–V3 精度风险)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C02E2E"/>
                          </a:solidFill>
                          <a:latin typeface="PingFang SC"/>
                        </a:rPr>
                        <a:t>显式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签名语义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varlen 拼包,cu_seqlens 驱动计算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单 batch,S=S_max,padding 调用方负责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签名一字不差,契约遵守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遵守调用契约 / mask 扩展(可后置)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半感知 / 显式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tile / buffer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大 UB/多核的 tile 全家桶榨性能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128KB UB、单核、cube 16/8/16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保守小 tile+对齐约束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用户自调(1–2 人日跑通,1–2 人周调优)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C02E2E"/>
                          </a:solidFill>
                          <a:latin typeface="PingFang SC"/>
                        </a:rPr>
                        <a:t>显式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jit 参数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设备调度/多核切分/调试选项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单核无设备侧调度需求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只留 soc_version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F2937"/>
                          </a:solidFill>
                          <a:latin typeface="PingFang SC"/>
                        </a:rPr>
                        <a:t>删选项(SIM 惯例 +RunMode.SIM)(V4)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C02E2E"/>
                          </a:solidFill>
                          <a:latin typeface="PingFang SC"/>
                        </a:rPr>
                        <a:t>显式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6309360"/>
            <a:ext cx="11183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ingFang SC"/>
              </a:rPr>
              <a:t>注:感知档位首项为框架方案落地后的最优档;未落地时均为显式改造。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2937"/>
                </a:solidFill>
                <a:latin typeface="PingFang SC"/>
              </a:rPr>
              <a:t>维度一  循环控制流:pypto.loop → 原生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影响最深的差异;也是 2.5 框架方案的发力点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0" cy="1783080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0" cy="3291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81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云侧写法与目的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四层 pypto.loop 以运行期符号量为边界(batch/seq/tile 循环)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is_loop_begin/end 识别循环首末 tile;pypto.min 处理边界截断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目的:一份编译产物跑任意序列长度,云侧多 batch varlen 的设计特性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07008"/>
            <a:ext cx="5486400" cy="329184"/>
          </a:xfrm>
          <a:prstGeom prst="rect">
            <a:avLst/>
          </a:prstGeom>
          <a:solidFill>
            <a:srgbClr val="475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2481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端侧约束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64592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循环边界与分支条件必须编译期确定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静态 shape 下 q.shape[0]、tile_count 均为普通 Python int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is_loop_end 要求 pypto.loop 产出的 SymbolicScalar,原生循环下不可用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99816"/>
            <a:ext cx="11183112" cy="475488"/>
          </a:xfrm>
          <a:prstGeom prst="rect">
            <a:avLst/>
          </a:prstGeom>
          <a:solidFill>
            <a:srgbClr val="EFF3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期望结果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182112"/>
            <a:ext cx="9418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循环静态展开:range + 整数比较(k_tile_idx == 0 / == count-1)替代符号判定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85032"/>
            <a:ext cx="7863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达成路径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7589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F2937"/>
                </a:solidFill>
                <a:latin typeface="PingFang SC"/>
              </a:rPr>
              <a:t>框架方案 2.5 透明降级:</a:t>
            </a:r>
            <a:r>
              <a:rPr sz="1150" b="0">
                <a:solidFill>
                  <a:srgbClr val="6B7280"/>
                </a:solidFill>
                <a:latin typeface="PingFang SC"/>
              </a:rPr>
              <a:t> _LoopInt 属性桥自动映射 loop / is_loop_begin/end / min 三类机械改写;云/端共用同一份源码;动态边界 fail fast 报错</a:t>
            </a:r>
          </a:p>
          <a:p>
            <a:pPr algn="l">
              <a:lnSpc>
                <a:spcPct val="108000"/>
              </a:lnSpc>
            </a:pPr>
            <a:r>
              <a:rPr sz="5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1">
                <a:solidFill>
                  <a:srgbClr val="1F2937"/>
                </a:solidFill>
                <a:latin typeface="PingFang SC"/>
              </a:rPr>
              <a:t>用户手改:</a:t>
            </a:r>
            <a:r>
              <a:rPr sz="1150" b="0">
                <a:solidFill>
                  <a:srgbClr val="6B7280"/>
                </a:solidFill>
                <a:latin typeface="PingFang SC"/>
              </a:rPr>
              <a:t> 四层循环改原生 range,is_loop_begin/end 改整数比较,pypto.min 改 Python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3685032"/>
            <a:ext cx="309067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37764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用户感知档位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4142232"/>
            <a:ext cx="1234440" cy="310896"/>
          </a:xfrm>
          <a:prstGeom prst="rect">
            <a:avLst/>
          </a:prstGeom>
          <a:solidFill>
            <a:srgbClr val="FBF0DD"/>
          </a:solidFill>
          <a:ln w="9525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4183380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06A00"/>
                </a:solidFill>
                <a:latin typeface="PingFang SC"/>
              </a:rPr>
              <a:t>半感知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507992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B7280"/>
                </a:solidFill>
                <a:latin typeface="PingFang SC"/>
              </a:rPr>
              <a:t>2.5 落地后:不改代码,但需显式开 static_loop 选项(不建议 npuarch 嗅探,V5c)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5056632"/>
            <a:ext cx="1234440" cy="310896"/>
          </a:xfrm>
          <a:prstGeom prst="rect">
            <a:avLst/>
          </a:prstGeom>
          <a:solidFill>
            <a:srgbClr val="FBE8E8"/>
          </a:solidFill>
          <a:ln w="9525">
            <a:solidFill>
              <a:srgbClr val="C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5097780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2E2E"/>
                </a:solidFill>
                <a:latin typeface="PingFang SC"/>
              </a:rPr>
              <a:t>显式改造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5422392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B7280"/>
                </a:solidFill>
                <a:latin typeface="PingFang SC"/>
              </a:rPr>
              <a:t>方案未落地时:手改三类循环表达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11183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ingFang SC"/>
              </a:rPr>
              <a:t>连带成本:云侧惰性平台分支(npuarch == DAV_3510)依赖 pypto.loop 符号执行的惰性,循环表达迁移时需一并移除(源文档第 0 节例外)。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2937"/>
                </a:solidFill>
                <a:latin typeface="PingFang SC"/>
              </a:rPr>
              <a:t>维度二  值读取:cu_seqlens / as_variable → 静态推导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语义静态化的核心;2.6 值烘焙的发力点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0" cy="1783080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0" cy="3291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81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云侧写法与目的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q_start = cu_seqlens_q[b] 走 __getitem__ 标量分支,构造 RUNTIME_GetTensorDataInt32Dim1 符号调用表达式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as_variable() 显式标记运行期变量;trace 期不读 tensor 数据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目的:kernel 侧自含控制流信息,host 无需传参,varlen 拼包一份产物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07008"/>
            <a:ext cx="5486400" cy="329184"/>
          </a:xfrm>
          <a:prstGeom prst="rect">
            <a:avLst/>
          </a:prstGeom>
          <a:solidFill>
            <a:srgbClr val="475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2481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端侧约束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64592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值不参与计算:cu_seqlens 必须为 [0, S_max] 的 [2] 张量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常见误解——值恰好是常量也不行:“值是常量”≠“编译期常量”,表达式仍是运行期符号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真正静态的只有 shape 读取与 host 侧 int 传入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99816"/>
            <a:ext cx="11183112" cy="475488"/>
          </a:xfrm>
          <a:prstGeom prst="rect">
            <a:avLst/>
          </a:prstGeom>
          <a:solidFill>
            <a:srgbClr val="EFF3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期望结果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182112"/>
            <a:ext cx="9418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删除值读取,静态推导 seq_len_q = q.shape[1];签名保留 cu_seqlens,调用方零改动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85032"/>
            <a:ext cx="7863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达成路径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7589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F2937"/>
                </a:solidFill>
                <a:latin typeface="PingFang SC"/>
              </a:rPr>
              <a:t>框架方案 2.6 值烘焙:</a:t>
            </a:r>
            <a:r>
              <a:rPr sz="1150" b="0">
                <a:solidFill>
                  <a:srgbClr val="6B7280"/>
                </a:solidFill>
                <a:latin typeface="PingFang SC"/>
              </a:rPr>
              <a:t> bake_host_values 显式名单,trace 期把 GetTensorData 折叠为常量,后续表达式自然折叠;三个前置条件(host 可得性/变体缓存/DT_INT32)</a:t>
            </a:r>
          </a:p>
          <a:p>
            <a:pPr algn="l">
              <a:lnSpc>
                <a:spcPct val="108000"/>
              </a:lnSpc>
            </a:pPr>
            <a:r>
              <a:rPr sz="5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1">
                <a:solidFill>
                  <a:srgbClr val="1F2937"/>
                </a:solidFill>
                <a:latin typeface="PingFang SC"/>
              </a:rPr>
              <a:t>用户手改:</a:t>
            </a:r>
            <a:r>
              <a:rPr sz="1150" b="0">
                <a:solidFill>
                  <a:srgbClr val="6B7280"/>
                </a:solidFill>
                <a:latin typeface="PingFang SC"/>
              </a:rPr>
              <a:t> 删值读取与 as_variable,改静态推导;驱动 batch loop 的维度注解改 [pypto.STATIC]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3685032"/>
            <a:ext cx="309067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37764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用户感知档位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4142232"/>
            <a:ext cx="1234440" cy="310896"/>
          </a:xfrm>
          <a:prstGeom prst="rect">
            <a:avLst/>
          </a:prstGeom>
          <a:solidFill>
            <a:srgbClr val="FBF0DD"/>
          </a:solidFill>
          <a:ln w="9525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4183380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06A00"/>
                </a:solidFill>
                <a:latin typeface="PingFang SC"/>
              </a:rPr>
              <a:t>半感知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507992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B7280"/>
                </a:solidFill>
                <a:latin typeface="PingFang SC"/>
              </a:rPr>
              <a:t>2.6 落地后:不改代码,需开 bake_host_values 且值变触发重编译(V10)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5056632"/>
            <a:ext cx="1234440" cy="310896"/>
          </a:xfrm>
          <a:prstGeom prst="rect">
            <a:avLst/>
          </a:prstGeom>
          <a:solidFill>
            <a:srgbClr val="FBE8E8"/>
          </a:solidFill>
          <a:ln w="9525">
            <a:solidFill>
              <a:srgbClr val="C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5097780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2E2E"/>
                </a:solidFill>
                <a:latin typeface="PingFang SC"/>
              </a:rPr>
              <a:t>显式改造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5422392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B7280"/>
                </a:solidFill>
                <a:latin typeface="PingFang SC"/>
              </a:rPr>
              <a:t>方案未落地时:手改三处值读取 + 注解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11183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ingFang SC"/>
              </a:rPr>
              <a:t>2.5 无法覆盖此项:值读取产生的 SymbolicScalar 边界会触发 2.5 降级路径报错(符合预期,替用户发现未静态化代码)。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2937"/>
                </a:solidFill>
                <a:latin typeface="PingFang SC"/>
              </a:rPr>
              <a:t>维度三  dtype:BF16/FP32 → FP16(只换类型,不动计算)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计算过程与算子结构完全不变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0" cy="1783080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0" cy="3291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81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云侧写法与目的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q/k/v 输入 BF16;scores、mij/pij/lij 等中间量 FP32;L/M 累加器 FP32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P 矩阵 cast 为 BF16;l_output/m_output 输出 FP32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目的:大模型训练/推理的数值精度需求,云侧 BF16/FP32 全覆盖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07008"/>
            <a:ext cx="5486400" cy="329184"/>
          </a:xfrm>
          <a:prstGeom prst="rect">
            <a:avLst/>
          </a:prstGeom>
          <a:solidFill>
            <a:srgbClr val="475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2481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端侧约束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64592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端侧无 BF16 支持证据:UT dtype 覆盖 FP16/FP32/INT8-32/UINT8,无 BF16 用例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调用方负责提前转 FP16;kernel 内不做 BF16→FP16 转换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99816"/>
            <a:ext cx="11183112" cy="475488"/>
          </a:xfrm>
          <a:prstGeom prst="rect">
            <a:avLst/>
          </a:prstGeom>
          <a:solidFill>
            <a:srgbClr val="EFF3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期望结果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182112"/>
            <a:ext cx="9418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全部替换为 FP16:输入/中间量/P/输出;结构与计算过程零改动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85032"/>
            <a:ext cx="7863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达成路径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7589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F2937"/>
                </a:solidFill>
                <a:latin typeface="PingFang SC"/>
              </a:rPr>
              <a:t>用户替换(无框架方案):</a:t>
            </a:r>
            <a:r>
              <a:rPr sz="1150" b="0">
                <a:solidFill>
                  <a:srgbClr val="6B7280"/>
                </a:solidFill>
                <a:latin typeface="PingFang SC"/>
              </a:rPr>
              <a:t> 注解与调用方 dtype 替换——out_dtype=DT_FP32→DT_FP16、cast(pij, DT_BF16)→DT_FP16 等</a:t>
            </a:r>
          </a:p>
          <a:p>
            <a:pPr algn="l">
              <a:lnSpc>
                <a:spcPct val="108000"/>
              </a:lnSpc>
            </a:pPr>
            <a:r>
              <a:rPr sz="5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1">
                <a:solidFill>
                  <a:srgbClr val="1F2937"/>
                </a:solidFill>
                <a:latin typeface="PingFang SC"/>
              </a:rPr>
              <a:t>精度风险(如实标注):</a:t>
            </a:r>
            <a:r>
              <a:rPr sz="1150" b="0">
                <a:solidFill>
                  <a:srgbClr val="6B7280"/>
                </a:solidFill>
                <a:latin typeface="PingFang SC"/>
              </a:rPr>
              <a:t> FP16 11-bit 尾数在长序列下 L/M 累加误差可能放大(V1);exp 的 FP16 路径待查(V2);div INTRINSIC 待查(V3)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3685032"/>
            <a:ext cx="309067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37764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用户感知档位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4142232"/>
            <a:ext cx="1234440" cy="310896"/>
          </a:xfrm>
          <a:prstGeom prst="rect">
            <a:avLst/>
          </a:prstGeom>
          <a:solidFill>
            <a:srgbClr val="FBE8E8"/>
          </a:solidFill>
          <a:ln w="9525">
            <a:solidFill>
              <a:srgbClr val="C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4183380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2E2E"/>
                </a:solidFill>
                <a:latin typeface="PingFang SC"/>
              </a:rPr>
              <a:t>显式改造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507992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B7280"/>
                </a:solidFill>
                <a:latin typeface="PingFang SC"/>
              </a:rPr>
              <a:t>dtype 替换必须用户完成,框架不介入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2937"/>
                </a:solidFill>
                <a:latin typeface="PingFang SC"/>
              </a:rPr>
              <a:t>维度四  tile/buffer 与 jit 参数:性能配置整体重置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云侧性能优化项在端侧先验不可行,需全部重调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0" cy="1783080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0" cy="3291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81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云侧写法与目的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tile 全家桶:Q_TILE/K_TILE=320、全局+循环内 6 处 cube/vec tile 重设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pass_options:nbuffer=8 等 buffer 复用策略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jit:device_sched_mode、stitch_function_max_num、runtime_debug_mode 等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目的:云侧大 UB(256KB–1MB)、数十核下榨吞吐与复用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07008"/>
            <a:ext cx="5486400" cy="329184"/>
          </a:xfrm>
          <a:prstGeom prst="rect">
            <a:avLst/>
          </a:prstGeom>
          <a:solidFill>
            <a:srgbClr val="475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2481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端侧约束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64592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128KB UB、单核、cube 16/8/16 粒度、ubblock=32 对齐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nbuffer=8 与云侧大 buffer 耦合,端侧大概率不可行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单核无设备侧调度/多核切分需求(V4)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99816"/>
            <a:ext cx="11183112" cy="475488"/>
          </a:xfrm>
          <a:prstGeom prst="rect">
            <a:avLst/>
          </a:prstGeom>
          <a:solidFill>
            <a:srgbClr val="EFF3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期望结果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182112"/>
            <a:ext cx="9418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保守小 tile 起步(Q_TILE=K_TILE=64)按 16/8/16 整数倍+32 对齐迭代;jit 只留 soc_version(+RunMode.SIM)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85032"/>
            <a:ext cx="7863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达成路径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7589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F2937"/>
                </a:solidFill>
                <a:latin typeface="PingFang SC"/>
              </a:rPr>
              <a:t>用户自调(无推导公式,只给事实):</a:t>
            </a:r>
            <a:r>
              <a:rPr sz="1150" b="0">
                <a:solidFill>
                  <a:srgbClr val="6B7280"/>
                </a:solidFill>
                <a:latin typeface="PingFang SC"/>
              </a:rPr>
              <a:t> 触点 10+ 处;1–2 人日跑通,1–2 人周调优,后续算子 0.5–1 人日/个(边际递减);仍不足可退守单 head 循环</a:t>
            </a:r>
          </a:p>
          <a:p>
            <a:pPr algn="l">
              <a:lnSpc>
                <a:spcPct val="108000"/>
              </a:lnSpc>
            </a:pPr>
            <a:r>
              <a:rPr sz="5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1">
                <a:solidFill>
                  <a:srgbClr val="1F2937"/>
                </a:solidFill>
                <a:latin typeface="PingFang SC"/>
              </a:rPr>
              <a:t>jit 选项全删:</a:t>
            </a:r>
            <a:r>
              <a:rPr sz="1150" b="0">
                <a:solidFill>
                  <a:srgbClr val="6B7280"/>
                </a:solidFill>
                <a:latin typeface="PingFang SC"/>
              </a:rPr>
              <a:t> device_sched_mode / stitch_function_max_num / nbuffer 系列 / runtime_debug_mode——处置理由见源文档 6.2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3685032"/>
            <a:ext cx="309067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37764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用户感知档位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4142232"/>
            <a:ext cx="1234440" cy="310896"/>
          </a:xfrm>
          <a:prstGeom prst="rect">
            <a:avLst/>
          </a:prstGeom>
          <a:solidFill>
            <a:srgbClr val="FBE8E8"/>
          </a:solidFill>
          <a:ln w="9525">
            <a:solidFill>
              <a:srgbClr val="C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4183380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2E2E"/>
                </a:solidFill>
                <a:latin typeface="PingFang SC"/>
              </a:rPr>
              <a:t>显式改造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507992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B7280"/>
                </a:solidFill>
                <a:latin typeface="PingFang SC"/>
              </a:rPr>
              <a:t>tile 与 jit 均需用户重配,框架不介入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11183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ingFang SC"/>
              </a:rPr>
              <a:t>前提:SIM 仿真可用(Kirin9030 仿真配置已存在,RunMode.SIM UT 惯例,未实测)。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2937"/>
                </a:solidFill>
                <a:latin typeface="PingFang SC"/>
              </a:rPr>
              <a:t>维度五  签名语义:varlen 拼包 → 单 batch padding 契约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签名一字不差保留,变的是语义契约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0" cy="1783080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0" cy="3291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481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云侧写法与目的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签名含 cu_seqlens_q/k,云侧传真实累积长度驱动 varlen 计算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多 batch 拼包:一条 kernel 处理整 batch 变长序列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目的:host/model 侧调度灵活,一份产物服务任意 batch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07008"/>
            <a:ext cx="5486400" cy="329184"/>
          </a:xfrm>
          <a:prstGeom prst="rect">
            <a:avLst/>
          </a:prstGeom>
          <a:solidFill>
            <a:srgbClr val="475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2481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端侧约束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64592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单 batch:一次只处理一条序列(或等长 padding)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S = S_max:静态 shape,调用方自行 padding</a:t>
            </a:r>
          </a:p>
          <a:p>
            <a:pPr algn="l">
              <a:lnSpc>
                <a:spcPct val="105000"/>
              </a:lnSpc>
            </a:pPr>
            <a:r>
              <a:rPr sz="4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47505C"/>
                </a:solidFill>
                <a:latin typeface="PingFang SC"/>
              </a:rPr>
              <a:t>▪ </a:t>
            </a:r>
            <a:r>
              <a:rPr sz="1200" b="0">
                <a:solidFill>
                  <a:srgbClr val="1F2937"/>
                </a:solidFill>
                <a:latin typeface="PingFang SC"/>
              </a:rPr>
              <a:t>cu_seqlens 值不参与计算——传真实累积长度会静默出错(结果错但不报错)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99816"/>
            <a:ext cx="11183112" cy="475488"/>
          </a:xfrm>
          <a:prstGeom prst="rect">
            <a:avLst/>
          </a:prstGeom>
          <a:solidFill>
            <a:srgbClr val="EFF3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期望结果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182112"/>
            <a:ext cx="9418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签名不改、调用代码云/端一致:batch_size = cu_seqlens_q.shape[0]-1 原样保留(shape 读取是静态的)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85032"/>
            <a:ext cx="7863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达成路径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7589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F2937"/>
                </a:solidFill>
                <a:latin typeface="PingFang SC"/>
              </a:rPr>
              <a:t>遵守契约(半感知):</a:t>
            </a:r>
            <a:r>
              <a:rPr sz="1150" b="0">
                <a:solidFill>
                  <a:srgbClr val="6B7280"/>
                </a:solidFill>
                <a:latin typeface="PingFang SC"/>
              </a:rPr>
              <a:t> 不改代码,但调用方必须知道并遵守 [0, S_max] 契约——这是知识性约束,不是代码约束</a:t>
            </a:r>
          </a:p>
          <a:p>
            <a:pPr algn="l">
              <a:lnSpc>
                <a:spcPct val="108000"/>
              </a:lnSpc>
            </a:pPr>
            <a:r>
              <a:rPr sz="5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1">
                <a:solidFill>
                  <a:srgbClr val="1F2937"/>
                </a:solidFill>
                <a:latin typeface="PingFang SC"/>
              </a:rPr>
              <a:t>mask 扩展(显式,可选):</a:t>
            </a:r>
            <a:r>
              <a:rPr sz="1150" b="0">
                <a:solidFill>
                  <a:srgbClr val="6B7280"/>
                </a:solidFill>
                <a:latin typeface="PingFang SC"/>
              </a:rPr>
              <a:t> 新增静态 mask 入参,scores 计算后数据流叠加(加法/select,不引控制流);非迁移必需,可后置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3685032"/>
            <a:ext cx="309067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37764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用户感知档位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4142232"/>
            <a:ext cx="1234440" cy="310896"/>
          </a:xfrm>
          <a:prstGeom prst="rect">
            <a:avLst/>
          </a:prstGeom>
          <a:solidFill>
            <a:srgbClr val="FBF0DD"/>
          </a:solidFill>
          <a:ln w="9525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4183380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06A00"/>
                </a:solidFill>
                <a:latin typeface="PingFang SC"/>
              </a:rPr>
              <a:t>半感知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507992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B7280"/>
                </a:solidFill>
                <a:latin typeface="PingFang SC"/>
              </a:rPr>
              <a:t>契约遵守:不改代码但必须知道,违反则静默出错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5056632"/>
            <a:ext cx="1234440" cy="310896"/>
          </a:xfrm>
          <a:prstGeom prst="rect">
            <a:avLst/>
          </a:prstGeom>
          <a:solidFill>
            <a:srgbClr val="FBE8E8"/>
          </a:solidFill>
          <a:ln w="9525">
            <a:solidFill>
              <a:srgbClr val="C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5097780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02E2E"/>
                </a:solidFill>
                <a:latin typeface="PingFang SC"/>
              </a:rPr>
              <a:t>显式改造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5422392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B7280"/>
                </a:solidFill>
                <a:latin typeface="PingFang SC"/>
              </a:rPr>
              <a:t>padded 场景需 mask 扩展(可选)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11183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ingFang SC"/>
              </a:rPr>
              <a:t>padding 静默出错风险:pad 位 K/V 真实参与 softmax、污染 L/M 与输出——首版不带 mask,靠调用方保证 pad 策略。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2937"/>
                </a:solidFill>
                <a:latin typeface="PingFang SC"/>
              </a:rPr>
              <a:t>感知演进矩阵:框架方案如何压缩用户感知面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核心结论页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07008"/>
          <a:ext cx="1118311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466"/>
                <a:gridCol w="2982163"/>
                <a:gridCol w="3168548"/>
                <a:gridCol w="3354933"/>
              </a:tblGrid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PingFang SC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PingFang SC"/>
                        </a:rPr>
                        <a:t>现状(无方案)</a:t>
                      </a:r>
                    </a:p>
                  </a:txBody>
                  <a:tcPr marL="54864" marR="36576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PingFang SC"/>
                        </a:rPr>
                        <a:t>2.5 落地后</a:t>
                      </a:r>
                    </a:p>
                  </a:txBody>
                  <a:tcPr marL="54864" marR="36576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PingFang SC"/>
                        </a:rPr>
                        <a:t>2.5 + 2.6 齐备</a:t>
                      </a:r>
                    </a:p>
                  </a:txBody>
                  <a:tcPr marL="54864" marR="36576" marT="18288" marB="18288" anchor="ctr">
                    <a:solidFill>
                      <a:srgbClr val="1D4ED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循环控制流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C02E2E"/>
                          </a:solidFill>
                          <a:latin typeface="PingFang SC"/>
                        </a:rPr>
                        <a:t>显式(手改 range 等)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B06A00"/>
                          </a:solidFill>
                          <a:latin typeface="PingFang SC"/>
                        </a:rPr>
                        <a:t>半感知(开 static_loop)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B06A00"/>
                          </a:solidFill>
                          <a:latin typeface="PingFang SC"/>
                        </a:rPr>
                        <a:t>半感知(开 static_loop)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值读取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C02E2E"/>
                          </a:solidFill>
                          <a:latin typeface="PingFang SC"/>
                        </a:rPr>
                        <a:t>显式(手改静态推导)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C02E2E"/>
                          </a:solidFill>
                          <a:latin typeface="PingFang SC"/>
                        </a:rPr>
                        <a:t>显式(2.5 不覆盖,触发报错)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B06A00"/>
                          </a:solidFill>
                          <a:latin typeface="PingFang SC"/>
                        </a:rPr>
                        <a:t>半感知(开 bake_host_values)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dtype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C02E2E"/>
                          </a:solidFill>
                          <a:latin typeface="PingFang SC"/>
                        </a:rPr>
                        <a:t>显式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C02E2E"/>
                          </a:solidFill>
                          <a:latin typeface="PingFang SC"/>
                        </a:rPr>
                        <a:t>显式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C02E2E"/>
                          </a:solidFill>
                          <a:latin typeface="PingFang SC"/>
                        </a:rPr>
                        <a:t>显式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签名语义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B06A00"/>
                          </a:solidFill>
                          <a:latin typeface="PingFang SC"/>
                        </a:rPr>
                        <a:t>半感知(遵守契约)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B06A00"/>
                          </a:solidFill>
                          <a:latin typeface="PingFang SC"/>
                        </a:rPr>
                        <a:t>半感知(遵守契约)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B06A00"/>
                          </a:solidFill>
                          <a:latin typeface="PingFang SC"/>
                        </a:rPr>
                        <a:t>半感知(遵守契约)</a:t>
                      </a:r>
                    </a:p>
                  </a:txBody>
                  <a:tcPr marL="54864" marR="36576" marT="18288" marB="18288" anchor="ctr">
                    <a:solidFill>
                      <a:srgbClr val="EFF3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tile / jit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C02E2E"/>
                          </a:solidFill>
                          <a:latin typeface="PingFang SC"/>
                        </a:rPr>
                        <a:t>显式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C02E2E"/>
                          </a:solidFill>
                          <a:latin typeface="PingFang SC"/>
                        </a:rPr>
                        <a:t>显式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C02E2E"/>
                          </a:solidFill>
                          <a:latin typeface="PingFang SC"/>
                        </a:rPr>
                        <a:t>显式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343400"/>
            <a:ext cx="7863840" cy="1417320"/>
          </a:xfrm>
          <a:prstGeom prst="rect">
            <a:avLst/>
          </a:prstGeom>
          <a:solidFill>
            <a:srgbClr val="EF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49807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2937"/>
                </a:solidFill>
                <a:latin typeface="PingFang SC"/>
              </a:rPr>
              <a:t>方案成本:</a:t>
            </a:r>
            <a:r>
              <a:rPr sz="1200" b="0">
                <a:solidFill>
                  <a:srgbClr val="1F2937"/>
                </a:solidFill>
                <a:latin typeface="PingFang SC"/>
              </a:rPr>
              <a:t>2.5 约 0.5–1 人日、不碰 C++(_controller.py + pil/ops.py + 开关接线 + UT),仓库已有 loop_impl 静态双路径与 max_impl 降级先例;</a:t>
            </a:r>
          </a:p>
          <a:p>
            <a:pPr algn="l">
              <a:lnSpc>
                <a:spcPct val="110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           </a:t>
            </a:r>
          </a:p>
          <a:p>
            <a:pPr algn="l">
              <a:lnSpc>
                <a:spcPct val="110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           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          2.6 暂无估计(前置条件具备仓库依据:ready_on_host_tensors / shape policy 变体机制 / DT_INT32)。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97880"/>
            <a:ext cx="111831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B7280"/>
                </a:solidFill>
                <a:latin typeface="PingFang SC"/>
              </a:rPr>
              <a:t>注:</a:t>
            </a:r>
            <a:r>
              <a:rPr sz="1200" b="0">
                <a:solidFill>
                  <a:srgbClr val="6B7280"/>
                </a:solidFill>
                <a:latin typeface="PingFang SC"/>
              </a:rPr>
              <a:t>2.5/2.6 均需显式选项,无一达到零感知;等价性与展开上限待 V9/V10 验证;终态下用户仅剩 dtype / tile / jit 三类显式改动(非控制流)。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F2937"/>
                </a:solidFill>
                <a:latin typeface="PingFang SC"/>
              </a:rPr>
              <a:t>谢谢,请评审指正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PingFang SC"/>
              </a:rPr>
              <a:t>云侧 vs 端侧对比专题 · 2026-09-03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D4ED8"/>
                </a:solidFill>
                <a:latin typeface="PingFang SC"/>
              </a:rPr>
              <a:t>决策点:立项 2.5 + 2.6,即可将用户感知面压缩至 dtype / tile / jit 三类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